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9" r:id="rId10"/>
    <p:sldId id="270" r:id="rId11"/>
    <p:sldId id="273" r:id="rId12"/>
    <p:sldId id="265" r:id="rId13"/>
    <p:sldId id="266" r:id="rId14"/>
    <p:sldId id="274" r:id="rId15"/>
    <p:sldId id="268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7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C2C2C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2C2C2C"/>
                </a:solidFill>
                <a:latin typeface="Calibri"/>
              </a:rPr>
              <a:t>Total 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1671-3D46-A595-077E1A786BE7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71-3D46-A595-077E1A786BE7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1671-3D46-A595-077E1A786BE7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2263</c:v>
                </c:pt>
                <c:pt idx="1">
                  <c:v>2610</c:v>
                </c:pt>
                <c:pt idx="2">
                  <c:v>2919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0-4B49-994C-C663B8B7AD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bg1">
          <a:lumMod val="85000"/>
        </a:schemeClr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C2C2C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2C2C2C"/>
                </a:solidFill>
                <a:latin typeface="Calibri"/>
              </a:rPr>
              <a:t>Operating Margin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%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7E-E84A-92CD-662EAB41E695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247E-E84A-92CD-662EAB41E695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-0.22800000000000001</c:v>
                </c:pt>
                <c:pt idx="1">
                  <c:v>-2.8000000000000001E-2</c:v>
                </c:pt>
                <c:pt idx="2">
                  <c:v>5.0999999999999997E-2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79-714A-BCC4-397A7C85C6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bg1">
          <a:lumMod val="85000"/>
        </a:schemeClr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2C2C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C2C2C"/>
                </a:solidFill>
                <a:latin typeface="Calibri"/>
              </a:rPr>
              <a:t>FY2026 Operating Margin: Okta vs. CrowdStrike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48-3540-A71B-53F470CCE4D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48-3540-A71B-53F470CCE4DF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48-3540-A71B-53F470CCE4DF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Okta
(GAAP)</c:v>
                </c:pt>
                <c:pt idx="1">
                  <c:v>CrowdStrike
(GAAP)</c:v>
                </c:pt>
                <c:pt idx="2">
                  <c:v>CrowdStrike
(Non-GAAP)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5.0999999999999997E-2</c:v>
                </c:pt>
                <c:pt idx="1">
                  <c:v>-6.0999999999999999E-2</c:v>
                </c:pt>
                <c:pt idx="2">
                  <c:v>0.218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148-3540-A71B-53F470CCE4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94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415B2-2C4D-308A-CD22-6D01552D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41817-A033-887A-F2E9-74076024B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44D2D-A6DA-E834-9275-828780CE1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68F53-2DE1-C7AC-1A62-3C04C7DD5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63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A578-0A9F-3541-2F83-717824F8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020FC-8A50-DCAA-788F-BBD6BE70B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8647D-B6A6-2711-0478-2645AFBE3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4C0B3-D908-0CA3-012B-D771F8FC9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29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27D0-C1BD-AA28-6676-C7D56C01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08005-6010-2B7A-939F-58924B385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D7F82-B0B3-C5D1-60FB-BD7A7935C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EBCE2-B585-6D72-9EF0-8DC4F5CCDB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45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3545FD76-1DE6-4A1C-9609-D2819734F8F3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30573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F8D0-0E9B-4650-859F-69E8A62E8B3F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638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7332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D495F72-74F9-4C7D-96DC-BB7900DFF168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6863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498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1405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038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F4876-ABF6-46E9-AABB-9093F4FF9830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8655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6F9649F7-D424-4C48-9F1A-F9E6A6464624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25764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A520E1D3-9897-4F62-B20F-820B9690302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85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D3FE-7D00-42C8-AAA1-7B40C480DCD1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20663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9B79-F7D7-4EC9-B39C-00EEEABA80A1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68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D30DCB73-7DFF-41E9-94AE-03DDC0983D5F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3726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216F4089-B0B8-4924-B485-08424C78200C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1734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E58CB80-2CED-4065-90C6-0999AD9EE7FC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52367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F3C6F935-567A-4AB6-A4C6-B3A3054E8F97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90636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916D-ECC1-407F-9384-347E5A5D7944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3260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24D50-69B4-493C-AABF-53036A8D79F6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194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C8F0CD-CD54-4D81-AA2E-F53EC757E087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424316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9797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874392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1808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0577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7D35-FD3E-408B-A06E-7ED09E94C083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6413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BC47-E75B-4512-AE58-14F5144E068D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75483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0254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21220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9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6893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56D64244-A3D4-4B68-87F0-779EEA0C37FE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3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</p:sldLayoutIdLst>
  <p:hf sldNum="0" hdr="0" ft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1C5D54-52DA-CD79-C307-39637C5D7FC1}"/>
              </a:ext>
            </a:extLst>
          </p:cNvPr>
          <p:cNvSpPr/>
          <p:nvPr/>
        </p:nvSpPr>
        <p:spPr>
          <a:xfrm>
            <a:off x="0" y="0"/>
            <a:ext cx="5184949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26745" y="708660"/>
            <a:ext cx="43619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CONSULTING CASE STUDY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-202564" y="2057400"/>
            <a:ext cx="55900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 Transformation:</a:t>
            </a:r>
          </a:p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Okta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97983" y="4445303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for Profitable Growth</a:t>
            </a:r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387511" y="5749109"/>
            <a:ext cx="6165161" cy="432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Emily McMahon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MBA, University of Florida  |  M.S. Business Analytics Candidate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87511" y="6181517"/>
            <a:ext cx="6564406" cy="432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and operating data sourced from Okta, Inc.'s FY2026 Form 10-K (SEC EDGAR). This project is an independent analysis and is not affiliated with or endorsed by Okta, Inc.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719FB0-75DC-0394-E5B6-6734ABBFC804}"/>
              </a:ext>
            </a:extLst>
          </p:cNvPr>
          <p:cNvSpPr txBox="1"/>
          <p:nvPr/>
        </p:nvSpPr>
        <p:spPr>
          <a:xfrm>
            <a:off x="5590075" y="2057400"/>
            <a:ext cx="4838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An independent assessment of how Okta can maintain operating efficiency as its workforce, enterprise customer base, and partner delivery model expand.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A0548D-5356-B535-310F-47F5AD702DDC}"/>
              </a:ext>
            </a:extLst>
          </p:cNvPr>
          <p:cNvSpPr/>
          <p:nvPr/>
        </p:nvSpPr>
        <p:spPr>
          <a:xfrm>
            <a:off x="548640" y="4806155"/>
            <a:ext cx="11109960" cy="121898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54367"/>
            <a:ext cx="113608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improved though cost discipline, resumed growth will test it.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78757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FY2024 to FY2026, operating expenses fell from  97% to 72% of revenue and operating income improved from $516M loss to a $149M profit. 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600" dirty="0">
              <a:solidFill>
                <a:srgbClr val="2C2C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headcount growing, a larger international workforce, and more services moving to partners, Okta now has to protect those gains while the organization continues to grow.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52698" y="4806155"/>
            <a:ext cx="8779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operating model — across People, Process, Governance, and Technology — capable of supporting its next phase of profitable growth.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92240" y="1691640"/>
            <a:ext cx="2514600" cy="105156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0" y="1783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97% → 72%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29400" y="23134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Opex as % of revenue, FY24–FY26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235440" y="1691640"/>
            <a:ext cx="2514600" cy="105156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72600" y="1783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-22.8% → 5.1%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23134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margin, FY24–FY26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2971800"/>
            <a:ext cx="2514600" cy="105156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+7.6%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9400" y="35935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growth resumed in FY26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35440" y="2971800"/>
            <a:ext cx="2514600" cy="105156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7260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33% → 44%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72600" y="35935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Share of employees international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-167426" y="5602453"/>
            <a:ext cx="4127035" cy="620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→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Design → Implement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Transformation: Okta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5C02ED-979A-8206-D7F4-0A101783B97E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 16">
            <a:extLst>
              <a:ext uri="{FF2B5EF4-FFF2-40B4-BE49-F238E27FC236}">
                <a16:creationId xmlns:a16="http://schemas.microsoft.com/office/drawing/2014/main" id="{7CE8CD5E-622A-7CEE-75AD-B6DAF199E71E}"/>
              </a:ext>
            </a:extLst>
          </p:cNvPr>
          <p:cNvSpPr/>
          <p:nvPr/>
        </p:nvSpPr>
        <p:spPr>
          <a:xfrm>
            <a:off x="548640" y="4807036"/>
            <a:ext cx="1962097" cy="54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CASE OBJECTIVE:</a:t>
            </a:r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improves and revenue continues to grow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42863609"/>
              </p:ext>
            </p:extLst>
          </p:nvPr>
        </p:nvGraphicFramePr>
        <p:xfrm>
          <a:off x="548640" y="1993392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308200880"/>
              </p:ext>
            </p:extLst>
          </p:nvPr>
        </p:nvGraphicFramePr>
        <p:xfrm>
          <a:off x="6248402" y="1993392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1307592"/>
            <a:ext cx="11222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 fell from 97.1% to 72.3% of revenue over the period, while gross margin expanded from 74.3% to 77.4% and Revenue-per-employee rose from $0.38M to $0.46M.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Okta, Inc. FY2026 Form 10-K, consolidated statements of operations.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14E06-C620-34F7-66EF-18616F01BB5D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COMPLICATION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adding new coordination and delivery demands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87452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growth has resumed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1463040" y="2272284"/>
            <a:ext cx="35210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grew from 5,914 to 6,366 in FY26 (+7.6%), after two years of near-flat headcount.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166360" cy="187452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18013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is rapidly globalizing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313432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employees rose from 33% to 44% of the workforce between FY24 and FY26.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66360" cy="187452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 are a growing share of the base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456903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&gt;$100K ACV grew from 4,485 to 5,100, alongside 20,000+ total customers.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749040"/>
            <a:ext cx="5166360" cy="187452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977640"/>
            <a:ext cx="502920" cy="50292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6580" y="3977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shifting outside the organization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4566076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expects professional-services revenue to decline as more engagements shift to partners beginning FY27.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Okta, Inc. FY2026 Form 10-K, Item 1 (Business) and Item 7 (MD&amp;A).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A908E2-42E3-1793-3B4F-B6D997831A3C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growth is likely to create operating strain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66360" cy="214884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73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organization scale without proportional headcount growth?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employee rose 20% over three years, but FY26 marks a return to headcount growth after two flat years — the model has not yet been tested at this pace.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508760"/>
            <a:ext cx="5166360" cy="214884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673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6364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cross-functional handoffs keep pace with go-to-market changes?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7940" y="2459736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further specialized its sales organization by buying center (IT/security vs. developer) in February 2025 — a recent structural change that has not yet been stress-tested at scale.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166360" cy="214884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050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decision rights and accountability clear as the org globalizes?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headcount grew from 33% to 44% of the workforce, increasing the number of geographies decision rights must now span.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886200"/>
            <a:ext cx="5166360" cy="214884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4050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Information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3640" y="4389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delivery visibility keeping pace with the shift to partners?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4848574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Professional-services revenue is expected to decline as engagements move to partners starting FY27, shifting delivery outside Okta's direct visibility.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Okta, Inc. FY2026 Form 10-K, Item 1 (Business) and Item 7 (MD&amp;A); company Excel model.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9361EF-F582-8E22-7B76-8452A818EFF1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Okta is profitable on a GAAP basis, while pees remain mixed.</a:t>
            </a:r>
            <a:endParaRPr lang="en-US" sz="2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28812873"/>
              </p:ext>
            </p:extLst>
          </p:nvPr>
        </p:nvGraphicFramePr>
        <p:xfrm>
          <a:off x="548640" y="1600200"/>
          <a:ext cx="6492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53895"/>
            <a:ext cx="4343400" cy="4689327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8952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589520" y="2362951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CrowdStrike, Okta's closest scaled comp, grew revenue 22% to $4.81B in FY2026 but posted a GAAP operating loss. Its 21.8% non-GAAP operating margin excludes items including stock-based compensation. 
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Okta reported a 5.1% GAAP operating margin. The comparison suggests that further gains should be carefully evaluated rather than assumed from the 72.3% operating expense ratio alone..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Okta FY2026 10-K; CrowdStrike Holdings FY2026 Q4/FY earnings release (SEC 8-K).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9C149D-84E0-D575-914C-B86E5349918C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 18"/>
          <p:cNvCxnSpPr>
            <a:cxnSpLocks/>
          </p:cNvCxnSpPr>
          <p:nvPr/>
        </p:nvCxnSpPr>
        <p:spPr>
          <a:xfrm>
            <a:off x="3830044" y="2057400"/>
            <a:ext cx="0" cy="3568415"/>
          </a:xfrm>
          <a:prstGeom prst="line">
            <a:avLst/>
          </a:prstGeom>
          <a:ln w="1651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38912" y="25603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bg2">
                    <a:lumMod val="75000"/>
                  </a:schemeClr>
                </a:solidFill>
                <a:latin typeface="Aptos"/>
              </a:rPr>
              <a:t>TARGET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21208"/>
            <a:ext cx="11155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C264C"/>
                </a:solidFill>
                <a:latin typeface="Georgia"/>
              </a:rPr>
              <a:t>A scalable operating model connects ownership, execution, and delivery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6307" y="1597673"/>
            <a:ext cx="66751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6292" y="1763824"/>
            <a:ext cx="567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01</a:t>
            </a:r>
            <a:endParaRPr sz="11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9149" y="1751643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STRATEGY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2309" y="1702788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Set operating priorities tied to growth and profitability goals</a:t>
            </a:r>
            <a:endParaRPr sz="1100" b="0" i="0" dirty="0">
              <a:solidFill>
                <a:schemeClr val="tx1">
                  <a:lumMod val="85000"/>
                  <a:lumOff val="15000"/>
                </a:schemeClr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79" y="2501986"/>
            <a:ext cx="66751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12422" y="2649919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GOVERNANCE &amp; DECISION RIGHTS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2309" y="2641489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Clarify who decides, who owns, and how issues escalate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404625"/>
            <a:ext cx="66751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3521372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CROSS-FUNCTIONAL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3011" y="3505405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Standardize handoffs across Sales, Customer Success, Product, and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311396"/>
            <a:ext cx="66751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30452" y="4452734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PARTNER DELIVERY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2309" y="4426809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Define service levels, ownership, and controls for external 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216651"/>
            <a:ext cx="66751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30452" y="5306933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C264C"/>
                </a:solidFill>
                <a:latin typeface="Aptos"/>
              </a:rPr>
              <a:t>PERFORMANCE &amp; DATA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2309" y="5357034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Create consistent KPIs and management visibility </a:t>
            </a:r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to track execution and delivery</a:t>
            </a:r>
            <a:endParaRPr sz="1100" b="0" i="0" dirty="0">
              <a:solidFill>
                <a:schemeClr val="tx1">
                  <a:lumMod val="85000"/>
                  <a:lumOff val="15000"/>
                </a:schemeClr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28869" y="1597673"/>
            <a:ext cx="3822191" cy="433014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0160">
            <a:solidFill>
              <a:srgbClr val="EFF3F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4048" y="1728762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chemeClr val="bg2">
                    <a:lumMod val="75000"/>
                  </a:schemeClr>
                </a:solidFill>
                <a:latin typeface="Aptos"/>
              </a:rPr>
              <a:t>DESIGN PRINCIPLES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2144825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Aptos"/>
              </a:rPr>
              <a:t>PEOPLE</a:t>
            </a:r>
            <a:r>
              <a:rPr lang="en-US" sz="1400" b="1" i="0" dirty="0">
                <a:solidFill>
                  <a:schemeClr val="bg1"/>
                </a:solidFill>
                <a:latin typeface="Aptos"/>
              </a:rPr>
              <a:t>:</a:t>
            </a:r>
            <a:endParaRPr sz="12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73568" y="2387104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bg1"/>
                </a:solidFill>
                <a:latin typeface="Aptos"/>
              </a:rPr>
              <a:t>Roles and accountability scale with 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2825496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Aptos"/>
              </a:rPr>
              <a:t>PROCESS</a:t>
            </a:r>
            <a:r>
              <a:rPr lang="en-US" sz="1600" b="1" i="0" dirty="0">
                <a:solidFill>
                  <a:schemeClr val="bg1"/>
                </a:solidFill>
                <a:latin typeface="Aptos"/>
              </a:rPr>
              <a:t>:</a:t>
            </a:r>
            <a:endParaRPr sz="14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73568" y="3124914"/>
            <a:ext cx="292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bg1"/>
                </a:solidFill>
                <a:latin typeface="Aptos"/>
              </a:rPr>
              <a:t>Critical handoffs are repeatable and measurable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3709452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Aptos"/>
              </a:rPr>
              <a:t>GOVERNANCE</a:t>
            </a:r>
            <a:r>
              <a:rPr lang="en-US" sz="1400" b="1" i="0" dirty="0">
                <a:solidFill>
                  <a:schemeClr val="bg1"/>
                </a:solidFill>
                <a:latin typeface="Aptos"/>
              </a:rPr>
              <a:t>:</a:t>
            </a:r>
            <a:endParaRPr sz="14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73568" y="3986850"/>
            <a:ext cx="292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bg1"/>
                </a:solidFill>
                <a:latin typeface="Aptos"/>
              </a:rPr>
              <a:t>Decision rights remain clear across geographies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4609" y="4699306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  <a:latin typeface="Aptos"/>
              </a:rPr>
              <a:t>TECHNOLOGY &amp; INFORMATION</a:t>
            </a:r>
            <a:r>
              <a:rPr lang="en-US" sz="1200" b="1" i="0" dirty="0">
                <a:solidFill>
                  <a:schemeClr val="bg1"/>
                </a:solidFill>
                <a:latin typeface="Aptos"/>
              </a:rPr>
              <a:t>:</a:t>
            </a:r>
            <a:endParaRPr sz="12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34609" y="4982843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Aptos"/>
              </a:rPr>
              <a:t>Leaders retain visibility as delivery shifts to partners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9253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rgbClr val="656D80"/>
                </a:solidFill>
                <a:latin typeface="Aptos"/>
              </a:rPr>
              <a:t>Illustrative target state based on the case diagnosis; not presented as Okta's current internal operating model.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6519672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Operating Model Transformation: Okta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56D80"/>
                </a:solidFill>
                <a:latin typeface="Aptos"/>
              </a:rPr>
              <a:t>7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2B1535-5B8D-CED1-6B18-6E1135D89EB4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29A615C-5231-E125-3690-9DBD7364762B}"/>
              </a:ext>
            </a:extLst>
          </p:cNvPr>
          <p:cNvSpPr txBox="1"/>
          <p:nvPr/>
        </p:nvSpPr>
        <p:spPr>
          <a:xfrm>
            <a:off x="816292" y="2675507"/>
            <a:ext cx="567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0</a:t>
            </a:r>
            <a:r>
              <a:rPr lang="en-US"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2</a:t>
            </a:r>
            <a:endParaRPr sz="11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C9211A-0B12-47C8-6693-BFC83DE8667D}"/>
              </a:ext>
            </a:extLst>
          </p:cNvPr>
          <p:cNvSpPr txBox="1"/>
          <p:nvPr/>
        </p:nvSpPr>
        <p:spPr>
          <a:xfrm>
            <a:off x="816293" y="3565438"/>
            <a:ext cx="567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0</a:t>
            </a:r>
            <a:r>
              <a:rPr lang="en-US"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3</a:t>
            </a:r>
            <a:endParaRPr sz="11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0FBA2D-30DB-3790-FE9A-D400DCBE2DFE}"/>
              </a:ext>
            </a:extLst>
          </p:cNvPr>
          <p:cNvSpPr txBox="1"/>
          <p:nvPr/>
        </p:nvSpPr>
        <p:spPr>
          <a:xfrm>
            <a:off x="816293" y="4464895"/>
            <a:ext cx="567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0</a:t>
            </a:r>
            <a:r>
              <a:rPr lang="en-US"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4</a:t>
            </a:r>
            <a:endParaRPr sz="11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AE3C6C-DF39-5A52-E315-FED3A78C187F}"/>
              </a:ext>
            </a:extLst>
          </p:cNvPr>
          <p:cNvSpPr txBox="1"/>
          <p:nvPr/>
        </p:nvSpPr>
        <p:spPr>
          <a:xfrm>
            <a:off x="822582" y="5353525"/>
            <a:ext cx="567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0</a:t>
            </a:r>
            <a:r>
              <a:rPr lang="en-US" sz="14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5</a:t>
            </a:r>
            <a:endParaRPr sz="11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OF 3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62940" y="1483649"/>
            <a:ext cx="777240" cy="7772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60686" y="1433035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13856" y="1560826"/>
            <a:ext cx="3997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Governance</a:t>
            </a:r>
            <a:endParaRPr lang="en-US" sz="2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590326" y="2148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ownership and escalation paths as the organization globalizes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288679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3429000"/>
            <a:ext cx="51695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decision ownership for enterprise deal approval and cross-border escalations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approval complexity across an increasingly international footprint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common governance standards and performance measures across.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1554481"/>
            <a:ext cx="4297680" cy="3812147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17472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10-K Evidence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589520" y="26060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employees grew from 33% to 44% of the workforce in three years. More geographic coverage increases the need for clear decision ownership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Transformation: Okta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C9A562-735E-D3AF-2A24-21CBC1F45C6A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6CB1-3F0B-B3B5-6461-AF7A7416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C8F7CB-A2D5-C9A5-63A1-5D4205057D03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 OF 3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FD3E58-0C60-7415-E8D2-B9A1C4D217F3}"/>
              </a:ext>
            </a:extLst>
          </p:cNvPr>
          <p:cNvSpPr/>
          <p:nvPr/>
        </p:nvSpPr>
        <p:spPr>
          <a:xfrm>
            <a:off x="662940" y="1483649"/>
            <a:ext cx="777240" cy="7772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C8B444-407F-6D1B-62E7-AA0420EAA886}"/>
              </a:ext>
            </a:extLst>
          </p:cNvPr>
          <p:cNvSpPr/>
          <p:nvPr/>
        </p:nvSpPr>
        <p:spPr>
          <a:xfrm>
            <a:off x="660686" y="1433035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5E15F4-1647-EAA2-C75C-08E033446A07}"/>
              </a:ext>
            </a:extLst>
          </p:cNvPr>
          <p:cNvSpPr/>
          <p:nvPr/>
        </p:nvSpPr>
        <p:spPr>
          <a:xfrm>
            <a:off x="1713855" y="1560826"/>
            <a:ext cx="54543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Cross-Functional Execution</a:t>
            </a:r>
            <a:endParaRPr lang="en-US" sz="2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855413-CBC9-1C6F-7EED-654832941BB9}"/>
              </a:ext>
            </a:extLst>
          </p:cNvPr>
          <p:cNvSpPr/>
          <p:nvPr/>
        </p:nvSpPr>
        <p:spPr>
          <a:xfrm>
            <a:off x="1713855" y="2318517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gaps between teams serving enterprise and multi-product accounts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37FF6A-D255-795A-7E43-E814E59A025E}"/>
              </a:ext>
            </a:extLst>
          </p:cNvPr>
          <p:cNvSpPr/>
          <p:nvPr/>
        </p:nvSpPr>
        <p:spPr>
          <a:xfrm>
            <a:off x="762000" y="288679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40C779-C50E-4DA2-7EDE-D39B7CA6575F}"/>
              </a:ext>
            </a:extLst>
          </p:cNvPr>
          <p:cNvSpPr/>
          <p:nvPr/>
        </p:nvSpPr>
        <p:spPr>
          <a:xfrm>
            <a:off x="762000" y="3429000"/>
            <a:ext cx="51695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ownership for accounts that span Okta buying centers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handoffs created by the February 2025  sales specialization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shared measures for account execution, issue resolution, and retention. 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FF50D8-9154-E0CB-20A1-34E4BD95CE8E}"/>
              </a:ext>
            </a:extLst>
          </p:cNvPr>
          <p:cNvSpPr/>
          <p:nvPr/>
        </p:nvSpPr>
        <p:spPr>
          <a:xfrm>
            <a:off x="7360920" y="1554481"/>
            <a:ext cx="4297680" cy="3812147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D30582-4EB6-BCF7-5D43-E8C08D21F785}"/>
              </a:ext>
            </a:extLst>
          </p:cNvPr>
          <p:cNvSpPr/>
          <p:nvPr/>
        </p:nvSpPr>
        <p:spPr>
          <a:xfrm>
            <a:off x="8229600" y="17472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10-K Evidence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A939EA-581A-747D-259E-7A7B79FAA207}"/>
              </a:ext>
            </a:extLst>
          </p:cNvPr>
          <p:cNvSpPr/>
          <p:nvPr/>
        </p:nvSpPr>
        <p:spPr>
          <a:xfrm>
            <a:off x="7589520" y="26060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Okta specialized its sale organization by buying centers in February 2025. Multi-product accounts now require coordination across additional teams and ownership points..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8EB4CE6-2AE6-1512-0370-9E977ACBE265}"/>
              </a:ext>
            </a:extLst>
          </p:cNvPr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Transformation: Okta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0CCB930-8B2A-5919-3CC7-271F1ECFC1C5}"/>
              </a:ext>
            </a:extLst>
          </p:cNvPr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C46800-EA97-3DBD-174C-FE1E0C3010F2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65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3ECC-0EBE-FC56-B493-B7E3C159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2030F8-EDB8-D049-64B1-441AE6F4F554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 OF 3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EA047A-AD42-E086-98A6-394B9FB89614}"/>
              </a:ext>
            </a:extLst>
          </p:cNvPr>
          <p:cNvSpPr/>
          <p:nvPr/>
        </p:nvSpPr>
        <p:spPr>
          <a:xfrm>
            <a:off x="662940" y="1483649"/>
            <a:ext cx="777240" cy="7772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3BCC94-36AE-CBEA-090F-E1396BCBD86C}"/>
              </a:ext>
            </a:extLst>
          </p:cNvPr>
          <p:cNvSpPr/>
          <p:nvPr/>
        </p:nvSpPr>
        <p:spPr>
          <a:xfrm>
            <a:off x="660686" y="1433035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D90215-96A6-A15A-DAE8-B75B69D39F49}"/>
              </a:ext>
            </a:extLst>
          </p:cNvPr>
          <p:cNvSpPr/>
          <p:nvPr/>
        </p:nvSpPr>
        <p:spPr>
          <a:xfrm>
            <a:off x="1590326" y="1522476"/>
            <a:ext cx="5768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Through the Partner Delivery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3778C0-1178-6801-3C4B-B0BEAF75533A}"/>
              </a:ext>
            </a:extLst>
          </p:cNvPr>
          <p:cNvSpPr/>
          <p:nvPr/>
        </p:nvSpPr>
        <p:spPr>
          <a:xfrm>
            <a:off x="1554480" y="227511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ownership, service expectations, and reporting for work delivered by partners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010533C-DF0B-E1A7-EA52-AD40B6A1AB1D}"/>
              </a:ext>
            </a:extLst>
          </p:cNvPr>
          <p:cNvSpPr/>
          <p:nvPr/>
        </p:nvSpPr>
        <p:spPr>
          <a:xfrm>
            <a:off x="762000" y="288679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42D466-63FA-F5B8-9426-A6D15C5E2BB3}"/>
              </a:ext>
            </a:extLst>
          </p:cNvPr>
          <p:cNvSpPr/>
          <p:nvPr/>
        </p:nvSpPr>
        <p:spPr>
          <a:xfrm>
            <a:off x="762000" y="3429000"/>
            <a:ext cx="51695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ownership and service-level expectations for partner-delivered work.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partner performance, implementation timing, and customer outcomes. 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reporting for partner engagements as direct delivery declines. 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BF48107-053B-EF50-30BA-9A237149B13C}"/>
              </a:ext>
            </a:extLst>
          </p:cNvPr>
          <p:cNvSpPr/>
          <p:nvPr/>
        </p:nvSpPr>
        <p:spPr>
          <a:xfrm>
            <a:off x="7360920" y="1554481"/>
            <a:ext cx="4297680" cy="3812147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677215-8138-96EA-7A2C-E554E3F18364}"/>
              </a:ext>
            </a:extLst>
          </p:cNvPr>
          <p:cNvSpPr/>
          <p:nvPr/>
        </p:nvSpPr>
        <p:spPr>
          <a:xfrm>
            <a:off x="8229600" y="17472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10-K Evidence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036243-31E7-2637-0156-7D791DC7135D}"/>
              </a:ext>
            </a:extLst>
          </p:cNvPr>
          <p:cNvSpPr/>
          <p:nvPr/>
        </p:nvSpPr>
        <p:spPr>
          <a:xfrm>
            <a:off x="7589520" y="26060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Okta identifies the availability of qualified implementation partners as a risk. That risk becomes more important as professional-services work shifts to partners beginning in FY2027.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1EC5180-A329-9B0C-B16A-20E2C8448B83}"/>
              </a:ext>
            </a:extLst>
          </p:cNvPr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Transformation: Okta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717EBE-CA44-F56C-258A-F03D1BC4DA8E}"/>
              </a:ext>
            </a:extLst>
          </p:cNvPr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18B544-C409-7621-84AB-873F2D13091A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79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8912" y="25603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MEASURES OF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85216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</a:rPr>
              <a:t>Set consistent </a:t>
            </a:r>
            <a:r>
              <a:rPr sz="2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</a:rPr>
              <a:t>KPI</a:t>
            </a:r>
            <a:r>
              <a:rPr lang="en-US" sz="2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</a:rPr>
              <a:t>’s</a:t>
            </a:r>
            <a:r>
              <a:rPr sz="2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</a:rPr>
              <a:t> </a:t>
            </a:r>
            <a:r>
              <a:rPr lang="en-US" sz="2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</a:rPr>
              <a:t> to track </a:t>
            </a:r>
            <a:r>
              <a:rPr sz="2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</a:rPr>
              <a:t>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018" y="1828800"/>
            <a:ext cx="3493008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19" y="2263462"/>
            <a:ext cx="420624" cy="420624"/>
          </a:xfrm>
          <a:prstGeom prst="ellipse">
            <a:avLst/>
          </a:prstGeom>
          <a:solidFill>
            <a:srgbClr val="1E285C"/>
          </a:solidFill>
          <a:ln>
            <a:solidFill>
              <a:srgbClr val="1E2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979" y="2329125"/>
            <a:ext cx="5501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7698" y="2294325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C264C"/>
                </a:solidFill>
                <a:latin typeface="Aptos"/>
              </a:rPr>
              <a:t>SIMPLIFY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987933"/>
            <a:ext cx="2962656" cy="2258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Potential KPIs</a:t>
            </a:r>
            <a:endParaRPr lang="en-US" sz="12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  <a:p>
            <a:pPr algn="l"/>
            <a:endParaRPr lang="en-US" sz="1200" b="1" i="0" dirty="0">
              <a:solidFill>
                <a:srgbClr val="CCA022"/>
              </a:solidFill>
              <a:latin typeface="Aptos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Decision Cycle Time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Escalation Resolution Time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% Critical decisions with a defined owner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Approval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layers per critical process </a:t>
            </a:r>
            <a:endParaRPr sz="1200" i="0" dirty="0">
              <a:solidFill>
                <a:schemeClr val="tx1">
                  <a:lumMod val="85000"/>
                  <a:lumOff val="15000"/>
                </a:schemeClr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32" y="5765292"/>
            <a:ext cx="288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56D80"/>
                </a:solidFill>
                <a:latin typeface="Aptos"/>
              </a:rPr>
              <a:t>Baseline during Assess; set targets after internal 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0886" y="1865376"/>
            <a:ext cx="3493008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84975" y="2288417"/>
            <a:ext cx="420624" cy="4206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80387" y="2353978"/>
            <a:ext cx="4206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2896" y="2342436"/>
            <a:ext cx="2834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1C264C"/>
                </a:solidFill>
                <a:latin typeface="Aptos"/>
              </a:rPr>
              <a:t>CROSS-FUNCTIONAL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1667" y="5687568"/>
            <a:ext cx="288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656D80"/>
                </a:solidFill>
                <a:latin typeface="Aptos"/>
              </a:rPr>
              <a:t>Baseline during Assess; set targets after internal validation.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1" y="1865376"/>
            <a:ext cx="3493008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D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04950" y="2288417"/>
            <a:ext cx="420624" cy="42062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78451" y="2350663"/>
            <a:ext cx="4206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861" y="234449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C264C"/>
                </a:solidFill>
                <a:latin typeface="Aptos"/>
              </a:rPr>
              <a:t>PARTNER ECOSYSTEM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7" y="5669280"/>
            <a:ext cx="288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56D80"/>
                </a:solidFill>
                <a:latin typeface="Aptos"/>
              </a:rPr>
              <a:t>Baseline during Assess; set targets after internal validation.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" y="6345936"/>
            <a:ext cx="107899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Illustrative measures only. Specific targets require internal baseline data and leadership agreement.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6519672"/>
            <a:ext cx="3657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Operating Model Transformation: Okta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56D80"/>
                </a:solidFill>
                <a:latin typeface="Aptos"/>
              </a:rPr>
              <a:t>11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B27DE4-2C58-2A43-3EF2-A3C2AEF405A7}"/>
              </a:ext>
            </a:extLst>
          </p:cNvPr>
          <p:cNvSpPr txBox="1"/>
          <p:nvPr/>
        </p:nvSpPr>
        <p:spPr>
          <a:xfrm>
            <a:off x="4611667" y="2944788"/>
            <a:ext cx="2962656" cy="2258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Potential KPIs</a:t>
            </a:r>
            <a:endParaRPr lang="en-US" sz="12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  <a:p>
            <a:pPr algn="l"/>
            <a:endParaRPr lang="en-US" sz="1200" b="1" i="0" dirty="0">
              <a:solidFill>
                <a:srgbClr val="CCA022"/>
              </a:solidFill>
              <a:latin typeface="Aptos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Critical handoff cycle time 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Cross-functional SLA attainment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Enterprise account issue-resolution time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Retention/expansion indicators</a:t>
            </a:r>
            <a:endParaRPr sz="1200" i="0" dirty="0">
              <a:solidFill>
                <a:schemeClr val="tx1">
                  <a:lumMod val="85000"/>
                  <a:lumOff val="15000"/>
                </a:schemeClr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E7BACB-54F0-586D-72FB-05E1A46973BA}"/>
              </a:ext>
            </a:extLst>
          </p:cNvPr>
          <p:cNvSpPr txBox="1"/>
          <p:nvPr/>
        </p:nvSpPr>
        <p:spPr>
          <a:xfrm>
            <a:off x="8430767" y="2944862"/>
            <a:ext cx="2962656" cy="18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Potential KPIs</a:t>
            </a:r>
            <a:endParaRPr lang="en-US" sz="1200" b="1" i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  <a:p>
            <a:pPr algn="l"/>
            <a:endParaRPr lang="en-US" sz="1200" b="1" i="0" dirty="0">
              <a:solidFill>
                <a:srgbClr val="CCA022"/>
              </a:solidFill>
              <a:latin typeface="Aptos"/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Partner SLA attainment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Implementation cycle time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Partner-delivered customer satisfaction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Escalation and rework rate 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6EBA78B-3834-CC49-8021-745AA463DE05}"/>
              </a:ext>
            </a:extLst>
          </p:cNvPr>
          <p:cNvCxnSpPr/>
          <p:nvPr/>
        </p:nvCxnSpPr>
        <p:spPr>
          <a:xfrm>
            <a:off x="544148" y="1464122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by impact and speed</a:t>
            </a:r>
            <a:endParaRPr lang="en-US" sz="2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371600" y="1737360"/>
            <a:ext cx="6126480" cy="4160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434840" y="1737360"/>
            <a:ext cx="0" cy="4160520"/>
          </a:xfrm>
          <a:prstGeom prst="line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3817620"/>
            <a:ext cx="6126480" cy="0"/>
          </a:xfrm>
          <a:prstGeom prst="line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595274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IMPACT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" y="36804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/ HARDER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07808" y="36804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/ EASIER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81498" y="2368296"/>
            <a:ext cx="402336" cy="40233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3946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 · Governance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2617927"/>
            <a:ext cx="402336" cy="402336"/>
          </a:xfrm>
          <a:prstGeom prst="ellipse">
            <a:avLst/>
          </a:prstGeom>
          <a:solidFill>
            <a:schemeClr val="bg2">
              <a:lumMod val="50000"/>
            </a:scheme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20824" y="305683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 · Partner Ecosystem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85846" y="4531766"/>
            <a:ext cx="402336" cy="402336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98294" y="497067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 · Cross-Functional Execution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1737360"/>
            <a:ext cx="2971800" cy="4160520"/>
          </a:xfrm>
          <a:prstGeom prst="roundRect">
            <a:avLst>
              <a:gd name="adj" fmla="val 2462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1540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logic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15400" y="2331720"/>
            <a:ext cx="2514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governance because ownership and escalation rules can be defined quickly and support other changes. Begin the partner-delivery work early because Okta expects more services to move to partners in FY2027. Cross-function process changes can then be built around clearer ownership. around.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prioritization based on case diagnosis; not derived from internal Okta data.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E61976-D1FB-634A-29F5-91167B23EB65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Path from assessment to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10149840" cy="0"/>
          </a:xfrm>
          <a:prstGeom prst="line">
            <a:avLst/>
          </a:prstGeom>
          <a:noFill/>
          <a:ln w="381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7340" y="2331720"/>
            <a:ext cx="640080" cy="6400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773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2514600" cy="246888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process ownership, decision rights, pain points, and baseline performance.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4820" y="2331720"/>
            <a:ext cx="640080" cy="6400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748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74720" y="3154680"/>
            <a:ext cx="2514600" cy="246888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roles, decision rights, handoffs, and performance measure.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72300" y="2331720"/>
            <a:ext cx="640080" cy="6400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723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2514600" cy="246888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5508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proposed changes in selected teams or workflows and measure results..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69780" y="2331720"/>
            <a:ext cx="640080" cy="6400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697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869680" y="3154680"/>
            <a:ext cx="2514600" cy="246888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5256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5256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changes that perform well and add them to regular management reporting.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Transformation: Okta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ADB1C9-2D30-F2D7-011F-603BCBBE1F1A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70DF-2F50-7BDC-5928-2B6110D6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A6D630-4C62-8B97-0984-FE082F76947B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STAKE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086C61-91B5-192B-4B52-53092C2F377F}"/>
              </a:ext>
            </a:extLst>
          </p:cNvPr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Potential Value 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2654AD-7144-51B8-1CED-754A0FDD155E}"/>
              </a:ext>
            </a:extLst>
          </p:cNvPr>
          <p:cNvSpPr/>
          <p:nvPr/>
        </p:nvSpPr>
        <p:spPr>
          <a:xfrm>
            <a:off x="548639" y="1584103"/>
            <a:ext cx="2727961" cy="40668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2A5181-991E-EFF5-9AAB-C3BFB7FBFCCE}"/>
              </a:ext>
            </a:extLst>
          </p:cNvPr>
          <p:cNvSpPr/>
          <p:nvPr/>
        </p:nvSpPr>
        <p:spPr>
          <a:xfrm>
            <a:off x="845819" y="2450591"/>
            <a:ext cx="213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72.3%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mbria" pitchFamily="34" charset="0"/>
              </a:rPr>
              <a:t>OPEX as % of revenue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712A60A-F4A0-EBC7-33A5-824999C40F4A}"/>
              </a:ext>
            </a:extLst>
          </p:cNvPr>
          <p:cNvSpPr/>
          <p:nvPr/>
        </p:nvSpPr>
        <p:spPr>
          <a:xfrm>
            <a:off x="3608876" y="2011685"/>
            <a:ext cx="8001000" cy="625905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C41C7D-3192-2109-72BB-8513D4B1F48C}"/>
              </a:ext>
            </a:extLst>
          </p:cNvPr>
          <p:cNvSpPr/>
          <p:nvPr/>
        </p:nvSpPr>
        <p:spPr>
          <a:xfrm>
            <a:off x="626881" y="57944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Illustrative sensitivity analysis based on FY26 revenue. Shows the theoretical impact of reducing </a:t>
            </a:r>
            <a:r>
              <a:rPr lang="en-US" sz="1100" dirty="0" err="1"/>
              <a:t>Opex</a:t>
            </a:r>
            <a:r>
              <a:rPr lang="en-US" sz="1100" dirty="0"/>
              <a:t> as a percentage of revenue; does not estimate savings attributable to the proposed initiatives.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E63155-F26A-8B64-FA62-FA02057C1A64}"/>
              </a:ext>
            </a:extLst>
          </p:cNvPr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Transformation: Okta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37298D9-0B08-227D-046A-009ED26109DC}"/>
              </a:ext>
            </a:extLst>
          </p:cNvPr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0A7760-AEE5-5FDB-D42A-721C37EAC801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 3">
            <a:extLst>
              <a:ext uri="{FF2B5EF4-FFF2-40B4-BE49-F238E27FC236}">
                <a16:creationId xmlns:a16="http://schemas.microsoft.com/office/drawing/2014/main" id="{1BCEEFF0-87BC-BCC0-14FC-F6B1D4898428}"/>
              </a:ext>
            </a:extLst>
          </p:cNvPr>
          <p:cNvSpPr/>
          <p:nvPr/>
        </p:nvSpPr>
        <p:spPr>
          <a:xfrm>
            <a:off x="845819" y="3650653"/>
            <a:ext cx="213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$2.92B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mbria" pitchFamily="34" charset="0"/>
              </a:rPr>
              <a:t>FY26 Revenue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E161EB7C-05B6-2C45-4DA1-3613FFAF1385}"/>
              </a:ext>
            </a:extLst>
          </p:cNvPr>
          <p:cNvSpPr/>
          <p:nvPr/>
        </p:nvSpPr>
        <p:spPr>
          <a:xfrm>
            <a:off x="3608876" y="2924481"/>
            <a:ext cx="8001000" cy="625905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D9BE00AC-05EA-6B3D-BB17-043BA448996F}"/>
              </a:ext>
            </a:extLst>
          </p:cNvPr>
          <p:cNvSpPr/>
          <p:nvPr/>
        </p:nvSpPr>
        <p:spPr>
          <a:xfrm>
            <a:off x="3608876" y="3863341"/>
            <a:ext cx="8001000" cy="625905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3A189EF3-3F52-1F18-B43F-54C002324E3F}"/>
              </a:ext>
            </a:extLst>
          </p:cNvPr>
          <p:cNvSpPr/>
          <p:nvPr/>
        </p:nvSpPr>
        <p:spPr>
          <a:xfrm>
            <a:off x="3608876" y="4712132"/>
            <a:ext cx="8001000" cy="625905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895E0C-1A39-2C55-2055-2BA27BB7BB4A}"/>
              </a:ext>
            </a:extLst>
          </p:cNvPr>
          <p:cNvSpPr txBox="1"/>
          <p:nvPr/>
        </p:nvSpPr>
        <p:spPr>
          <a:xfrm>
            <a:off x="3608876" y="1593989"/>
            <a:ext cx="3345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Sensitivity: Reduction in OPEX as % of Revenue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0D6637-7B65-6555-D8E3-14FC7B19406F}"/>
              </a:ext>
            </a:extLst>
          </p:cNvPr>
          <p:cNvSpPr txBox="1"/>
          <p:nvPr/>
        </p:nvSpPr>
        <p:spPr>
          <a:xfrm>
            <a:off x="8297646" y="1606630"/>
            <a:ext cx="3345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Implied annual OPEX impact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3F1D8A-507C-BA76-08C4-D94D26C4ADA5}"/>
              </a:ext>
            </a:extLst>
          </p:cNvPr>
          <p:cNvSpPr txBox="1"/>
          <p:nvPr/>
        </p:nvSpPr>
        <p:spPr>
          <a:xfrm>
            <a:off x="3940935" y="2120809"/>
            <a:ext cx="97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point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5F9C5-F925-7B89-32E0-34F7FA606E94}"/>
              </a:ext>
            </a:extLst>
          </p:cNvPr>
          <p:cNvSpPr txBox="1"/>
          <p:nvPr/>
        </p:nvSpPr>
        <p:spPr>
          <a:xfrm>
            <a:off x="3940935" y="3047395"/>
            <a:ext cx="11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points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B0D673-93D4-6985-B629-19ED2826D836}"/>
              </a:ext>
            </a:extLst>
          </p:cNvPr>
          <p:cNvSpPr txBox="1"/>
          <p:nvPr/>
        </p:nvSpPr>
        <p:spPr>
          <a:xfrm>
            <a:off x="3940935" y="3926254"/>
            <a:ext cx="11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points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B46755-84B6-7160-84DF-C60483D25562}"/>
              </a:ext>
            </a:extLst>
          </p:cNvPr>
          <p:cNvSpPr txBox="1"/>
          <p:nvPr/>
        </p:nvSpPr>
        <p:spPr>
          <a:xfrm>
            <a:off x="3940935" y="4835059"/>
            <a:ext cx="11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 points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9F76D1-8A9B-ED88-C15B-7BA8E118B524}"/>
              </a:ext>
            </a:extLst>
          </p:cNvPr>
          <p:cNvSpPr txBox="1"/>
          <p:nvPr/>
        </p:nvSpPr>
        <p:spPr>
          <a:xfrm>
            <a:off x="9970503" y="2117514"/>
            <a:ext cx="97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 $29M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49D35F-A662-19A4-E5EF-93D4F6FFC6E0}"/>
              </a:ext>
            </a:extLst>
          </p:cNvPr>
          <p:cNvSpPr txBox="1"/>
          <p:nvPr/>
        </p:nvSpPr>
        <p:spPr>
          <a:xfrm>
            <a:off x="9970503" y="3009652"/>
            <a:ext cx="97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 $88M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FEF545-4A9E-EF19-15AF-7B75B8DF00ED}"/>
              </a:ext>
            </a:extLst>
          </p:cNvPr>
          <p:cNvSpPr txBox="1"/>
          <p:nvPr/>
        </p:nvSpPr>
        <p:spPr>
          <a:xfrm>
            <a:off x="9970503" y="3926254"/>
            <a:ext cx="11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 $146M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149594-3334-7CF6-77C6-3460B3BC72DF}"/>
              </a:ext>
            </a:extLst>
          </p:cNvPr>
          <p:cNvSpPr txBox="1"/>
          <p:nvPr/>
        </p:nvSpPr>
        <p:spPr>
          <a:xfrm>
            <a:off x="9970503" y="4835059"/>
            <a:ext cx="11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 $204M </a:t>
            </a: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6564386D-F5DE-235A-F3DF-2CB4C65EBC4F}"/>
              </a:ext>
            </a:extLst>
          </p:cNvPr>
          <p:cNvSpPr/>
          <p:nvPr/>
        </p:nvSpPr>
        <p:spPr>
          <a:xfrm>
            <a:off x="1248286" y="1647177"/>
            <a:ext cx="17000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</a:rPr>
              <a:t>FY26 BASELINE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366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METHODOLOGY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independent consulting case study developed using publicly available Okta financial and company information.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and operating data are sourced primarily from Okta's FY2026 Form 10-K (SEC EDGAR).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benchmarking data is sourced from CrowdStrike Holdings' FY2026 earnings release (SEC Form 8-K).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64592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  <a:spcAft>
                <a:spcPts val="1400"/>
              </a:spcAft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recommendations, prioritization, and sensitivity estimates are illustrative. They do not represent Okta internal data, targets, or guidance </a:t>
            </a:r>
          </a:p>
          <a:p>
            <a:pPr algn="ctr">
              <a:lnSpc>
                <a:spcPct val="125000"/>
              </a:lnSpc>
              <a:spcAft>
                <a:spcPts val="1400"/>
              </a:spcAft>
              <a:buSzPct val="100000"/>
            </a:pPr>
            <a:r>
              <a:rPr lang="en-US" sz="1600" b="1" i="1" u="sng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not affiliated with or endorsed by Okta, Inc.</a:t>
            </a:r>
            <a:endParaRPr lang="en-US" sz="1600" b="1" i="1" u="sng" dirty="0"/>
          </a:p>
        </p:txBody>
      </p:sp>
      <p:sp>
        <p:nvSpPr>
          <p:cNvPr id="7" name="Text 5"/>
          <p:cNvSpPr/>
          <p:nvPr/>
        </p:nvSpPr>
        <p:spPr>
          <a:xfrm>
            <a:off x="548640" y="43163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Tools &amp; Methods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5010911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· Operating Model Design · Financial Analysis · Competitive Benchmarking · Process Improvement · Transformation Strategy · Excel · Executive Communication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— Initial operating model assessment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414299-2F6E-8BA7-11C3-4F2BC42BBD1D}"/>
              </a:ext>
            </a:extLst>
          </p:cNvPr>
          <p:cNvCxnSpPr/>
          <p:nvPr/>
        </p:nvCxnSpPr>
        <p:spPr>
          <a:xfrm>
            <a:off x="548640" y="1207008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5D0956-A212-6784-C9B7-5A9D8000D348}"/>
              </a:ext>
            </a:extLst>
          </p:cNvPr>
          <p:cNvCxnSpPr/>
          <p:nvPr/>
        </p:nvCxnSpPr>
        <p:spPr>
          <a:xfrm>
            <a:off x="515155" y="4824640"/>
            <a:ext cx="1122265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  <a:effectLst>
            <a:outerShdw blurRad="38100" dist="25400" dir="5400000" algn="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201</TotalTime>
  <Words>1694</Words>
  <Application>Microsoft Macintosh PowerPoint</Application>
  <PresentationFormat>Widescreen</PresentationFormat>
  <Paragraphs>247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Cambria</vt:lpstr>
      <vt:lpstr>Georgia</vt:lpstr>
      <vt:lpstr>JasmineUPC</vt:lpstr>
      <vt:lpstr>Raleway</vt:lpstr>
      <vt:lpstr>School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Emily A. McMahon</cp:lastModifiedBy>
  <cp:revision>11</cp:revision>
  <dcterms:created xsi:type="dcterms:W3CDTF">2026-08-17T23:23:01Z</dcterms:created>
  <dcterms:modified xsi:type="dcterms:W3CDTF">2026-08-19T13:31:23Z</dcterms:modified>
</cp:coreProperties>
</file>